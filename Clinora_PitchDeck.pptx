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Clínicas (mil)</c:v>
                </c:pt>
              </c:strCache>
            </c:strRef>
          </c:tx>
          <c:spPr>
            <a:solidFill>
              <a:srgbClr val="0D7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13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7A5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B9E7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DCAA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FE1C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Odontologia</c:v>
                  </c:pt>
                  <c:pt idx="1">
                    <c:v>Clínica médica</c:v>
                  </c:pt>
                  <c:pt idx="2">
                    <c:v>Estética</c:v>
                  </c:pt>
                  <c:pt idx="3">
                    <c:v>Consultórios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</c:v>
                </c:pt>
                <c:pt idx="1">
                  <c:v>130</c:v>
                </c:pt>
                <c:pt idx="2">
                  <c:v>80</c:v>
                </c:pt>
                <c:pt idx="3">
                  <c:v>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B13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381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 (R$)</c:v>
                </c:pt>
              </c:strCache>
            </c:strRef>
          </c:tx>
          <c:spPr>
            <a:solidFill>
              <a:srgbClr val="0D7A5F"/>
            </a:solidFill>
            <a:ln w="31750" cap="flat">
              <a:solidFill>
                <a:srgbClr val="0D7A5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7A5F"/>
              </a:solidFill>
              <a:ln w="9525" cap="flat">
                <a:solidFill>
                  <a:srgbClr val="0D7A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800</c:v>
                </c:pt>
                <c:pt idx="3">
                  <c:v>2400</c:v>
                </c:pt>
                <c:pt idx="4">
                  <c:v>5200</c:v>
                </c:pt>
                <c:pt idx="5">
                  <c:v>8000</c:v>
                </c:pt>
                <c:pt idx="6">
                  <c:v>16000</c:v>
                </c:pt>
                <c:pt idx="7">
                  <c:v>28000</c:v>
                </c:pt>
                <c:pt idx="8">
                  <c:v>40000</c:v>
                </c:pt>
                <c:pt idx="9">
                  <c:v>60000</c:v>
                </c:pt>
                <c:pt idx="10">
                  <c:v>90000</c:v>
                </c:pt>
                <c:pt idx="11">
                  <c:v>120000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381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274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Clinora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A plataforma que cuida da sua clínica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1097280" cy="36576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00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Pitch Deck — Série Seed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52160" y="13716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R$120k MRR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0" y="1874520"/>
            <a:ext cx="20116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0" y="21488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módulos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0800" y="2651760"/>
            <a:ext cx="20116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29260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especialidades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852160" y="38404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Meta — 12 meses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PROBLEMA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Clínicas gerenciam tudo no improviso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636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600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320"/>
                </a:solidFill>
              </a:rPr>
              <a:t>Papelada e sistemas separados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837944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Agenda em planilha, financeiro em outro app, WhatsApp no celular pessoal. Dados fragmentados, retrabalho diário.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258568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3134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23500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320"/>
                </a:solidFill>
              </a:rPr>
              <a:t>Faltas e cancelamentos sem controle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258775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Sem lembretes automáticos, as faltas chegam a 30% da agenda — receita perdida sem recuperação.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008376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💸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7280" y="30998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320"/>
                </a:solidFill>
              </a:rPr>
              <a:t>Financeiro sem visibilidade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333756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Sem fluxo de caixa em tempo real, comissões calculadas manualmente, NFS-e emitida por fora.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758184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8130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😤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97280" y="38496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320"/>
                </a:solidFill>
              </a:rPr>
              <a:t>Sistemas caros e incompletos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4087368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Os sistemas existentes atendem parcialmente: bom no prontuário mas fraco no financeiro, ou vice-versa.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SOLUÇÃO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Uma plataforma. Toda a operação.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A27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6420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12140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Agendamento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55448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A27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66420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91840" y="212140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Prontuário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55448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A27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66420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126480" y="212140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Financeiro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A27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3580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7200" y="349300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Equipe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292608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A27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303580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291840" y="349300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WhatsApp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292608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A27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303580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126480" y="349300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BI &amp; Relatórios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5537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+ CRM · App do paciente · Multi-unidade · IA assistente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MERCADO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Mercado grande e mal atendido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1A27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276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9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450k+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1214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Clínicas no Brasil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55448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1A27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16276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9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R$2,4B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23160" y="21214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TAM — gestão de clínicas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155448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1A27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16276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9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65%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389120" y="21214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Sem sistema adequado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55080" y="155448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1A27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6276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9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R$120M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355080" y="21214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SAM — segmento-alvo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E4F5F0"/>
          </a:solidFill>
          <a:ln w="12700">
            <a:solidFill>
              <a:srgbClr val="0B9E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0175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320"/>
                </a:solidFill>
              </a:rPr>
              <a:t>Especialidades-alvo: dentistas, clínicas médicas, estéticas e consultórios gerais. Ticket médio R$397/mês com LTV estimado em R$9.500 por clínica.</a:t>
            </a:r>
            <a:endParaRPr lang="en-US" sz="11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57200" y="3858768"/>
          <a:ext cx="8229600" cy="914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MODELO DE NEGÓCIO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SaaS recorrente com add-ons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560320" cy="34747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070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20"/>
                </a:solidFill>
              </a:rPr>
              <a:t>Solo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7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R$197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/mês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23957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✓  1 profissional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7066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✓  Agenda + prontuário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✓  Financeiro básico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33284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✓  WhatsApp confirm.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54680" y="1097280"/>
            <a:ext cx="2560320" cy="3474720"/>
          </a:xfrm>
          <a:prstGeom prst="roundRect">
            <a:avLst>
              <a:gd name="adj" fmla="val 4286"/>
            </a:avLst>
          </a:prstGeom>
          <a:solidFill>
            <a:srgbClr val="0D7A5F"/>
          </a:solidFill>
          <a:ln w="19050">
            <a:solidFill>
              <a:srgbClr val="0B9E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896112"/>
            <a:ext cx="1554480" cy="237744"/>
          </a:xfrm>
          <a:prstGeom prst="roundRect">
            <a:avLst>
              <a:gd name="adj" fmla="val 38462"/>
            </a:avLst>
          </a:prstGeom>
          <a:solidFill>
            <a:srgbClr val="0B9E7A"/>
          </a:solidFill>
          <a:ln w="12700">
            <a:solidFill>
              <a:srgbClr val="0B9E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896112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</a:rPr>
              <a:t>MAIS POPULAR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154680" y="12070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Clínica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54680" y="15727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R$397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154680" y="20848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DE4"/>
                </a:solidFill>
              </a:rPr>
              <a:t>/mês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91840" y="23957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DE4"/>
                </a:solidFill>
              </a:rPr>
              <a:t>✓  Até 5 profissionais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0" y="27066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DE4"/>
                </a:solidFill>
              </a:rPr>
              <a:t>✓  Financeiro + NFS-e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9184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DE4"/>
                </a:solidFill>
              </a:rPr>
              <a:t>✓  CRM + BI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91840" y="33284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DE4"/>
                </a:solidFill>
              </a:rPr>
              <a:t>✓  Gestão de equipe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52160" y="1097280"/>
            <a:ext cx="2560320" cy="34747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12070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20"/>
                </a:solidFill>
              </a:rPr>
              <a:t>Pro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52160" y="15727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7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R$797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852160" y="20848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/mês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89320" y="23957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✓  Ilimitados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89320" y="27066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✓  App mobile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8932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✓  IA (voz + churn)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89320" y="33284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✓  Multi-unidade + API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663440"/>
            <a:ext cx="8229600" cy="320040"/>
          </a:xfrm>
          <a:prstGeom prst="roundRect">
            <a:avLst>
              <a:gd name="adj" fmla="val 22857"/>
            </a:avLst>
          </a:prstGeom>
          <a:solidFill>
            <a:srgbClr val="E4F5F0"/>
          </a:solidFill>
          <a:ln w="12700">
            <a:solidFill>
              <a:srgbClr val="C8ED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7A5F"/>
                </a:solidFill>
              </a:rPr>
              <a:t>Add-ons: Disparo WhatsApp R$0,12/msg · Telemedicina R$97/mês · Unidade adicional R$297/mês · Onboarding R$497 único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TRAÇÃO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Crescimento consistente desde o beta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63040"/>
          <a:ext cx="53035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141732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1A27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89320" y="14904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9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200+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989320" y="19842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Clínicas pagantes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89320" y="233172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1A27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89320" y="24048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9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R$397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5989320" y="28986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Ticket médio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89320" y="324612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1A27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9320" y="33192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9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3%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5989320" y="38130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Churn mensal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89320" y="416052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1A27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89320" y="42336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9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38x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5989320" y="47274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LTV / CAC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meses para liderança de mercado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920240" cy="32918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0D7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1920240" cy="548640"/>
          </a:xfrm>
          <a:prstGeom prst="roundRect">
            <a:avLst>
              <a:gd name="adj" fmla="val 16667"/>
            </a:avLst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447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70078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EDE4"/>
                </a:solidFill>
              </a:rPr>
              <a:t>M1–3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A5F"/>
                </a:solidFill>
              </a:rPr>
              <a:t>Fundação &amp; MVP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48716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→ Infraestrutura multi-tenant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29260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→ Agendamento + prontuário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336499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→ 2 clínicas-piloto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395728" y="2148840"/>
            <a:ext cx="20116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06040" y="1417320"/>
            <a:ext cx="1920240" cy="32918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06040" y="1417320"/>
            <a:ext cx="1920240" cy="54864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14447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Fase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06040" y="170078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EDE4"/>
                </a:solidFill>
              </a:rPr>
              <a:t>M4–6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697480" y="2057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Financeiro &amp; WhatsApp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97480" y="248716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→ Módulo financeiro completo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697480" y="29260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→ WhatsApp Business API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697480" y="336499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→ Lançamento beta público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44568" y="2148840"/>
            <a:ext cx="20116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417320"/>
            <a:ext cx="1920240" cy="32918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1417320"/>
            <a:ext cx="1920240" cy="5486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4447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Fase 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170078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EDE4"/>
                </a:solidFill>
              </a:rPr>
              <a:t>M7–9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46320" y="2057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CRM &amp; BI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248716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→ CRM + fidelização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46320" y="29260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→ Dashboards &amp; KPIs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46320" y="336499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→ Especialidades (odonto/estética)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693408" y="2148840"/>
            <a:ext cx="20116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03720" y="1417320"/>
            <a:ext cx="1920240" cy="32918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03720" y="1417320"/>
            <a:ext cx="1920240" cy="548640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03720" y="14447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Fase 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03720" y="170078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EDE4"/>
                </a:solidFill>
              </a:rPr>
              <a:t>M10–12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995160" y="2057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IA &amp; Escala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95160" y="248716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→ Prontuário por voz (IA)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995160" y="29260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→ App mobile paciente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995160" y="336499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→ Multi-unidade &amp; API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7200" y="4736592"/>
            <a:ext cx="8229600" cy="274320"/>
          </a:xfrm>
          <a:prstGeom prst="roundRect">
            <a:avLst>
              <a:gd name="adj" fmla="val 26667"/>
            </a:avLst>
          </a:prstGeom>
          <a:solidFill>
            <a:srgbClr val="E4F5F0"/>
          </a:solidFill>
          <a:ln w="12700">
            <a:solidFill>
              <a:srgbClr val="C8ED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754880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7A5F"/>
                </a:solidFill>
              </a:rPr>
              <a:t>Meta M12: R$120k MRR · 200+ clínicas pagantes · App mobile lançado · IA integrada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CONCORRÊNCIA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3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Clinora vs. mercado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286000" cy="34747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88920" y="1417320"/>
            <a:ext cx="1371600" cy="34747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14173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iClinic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06240" y="1417320"/>
            <a:ext cx="1371600" cy="34747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4173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Feegow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23560" y="1417320"/>
            <a:ext cx="1371600" cy="347472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14173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Clinicorp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40880" y="1417320"/>
            <a:ext cx="1371600" cy="347472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14173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Clinora ✓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783080"/>
            <a:ext cx="22860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Prontuário completo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88920" y="1783080"/>
            <a:ext cx="13716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1783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A5F"/>
                </a:solidFill>
              </a:rPr>
              <a:t>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06240" y="1783080"/>
            <a:ext cx="13716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1783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A5F"/>
                </a:solidFill>
              </a:rPr>
              <a:t>✓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23560" y="1783080"/>
            <a:ext cx="13716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23560" y="1783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A5F"/>
                </a:solidFill>
              </a:rPr>
              <a:t>✓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040880" y="1783080"/>
            <a:ext cx="1371600" cy="365760"/>
          </a:xfrm>
          <a:prstGeom prst="rect">
            <a:avLst/>
          </a:prstGeom>
          <a:solidFill>
            <a:srgbClr val="E4F5F0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1783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A5F"/>
                </a:solidFill>
              </a:rPr>
              <a:t>✓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2167128"/>
            <a:ext cx="2286000" cy="36576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1671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Financeiro + NFS-e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88920" y="2167128"/>
            <a:ext cx="1371600" cy="36576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88920" y="21671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A5F"/>
                </a:solidFill>
              </a:rPr>
              <a:t>✓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06240" y="2167128"/>
            <a:ext cx="1371600" cy="36576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0" y="21671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A5F"/>
                </a:solidFill>
              </a:rPr>
              <a:t>✓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23560" y="2167128"/>
            <a:ext cx="1371600" cy="36576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23560" y="21671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Parcial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040880" y="2167128"/>
            <a:ext cx="1371600" cy="365760"/>
          </a:xfrm>
          <a:prstGeom prst="rect">
            <a:avLst/>
          </a:prstGeom>
          <a:solidFill>
            <a:srgbClr val="E4F5F0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40880" y="21671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A5F"/>
                </a:solidFill>
              </a:rPr>
              <a:t>✓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2551176"/>
            <a:ext cx="22860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2551176"/>
            <a:ext cx="2286000" cy="36576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WhatsApp API nativo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88920" y="2551176"/>
            <a:ext cx="13716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88920" y="25511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Parcial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206240" y="2551176"/>
            <a:ext cx="13716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06240" y="25511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4B4A"/>
                </a:solidFill>
              </a:rPr>
              <a:t>✗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623560" y="2551176"/>
            <a:ext cx="13716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23560" y="25511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A5F"/>
                </a:solidFill>
              </a:rPr>
              <a:t>✓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040880" y="2551176"/>
            <a:ext cx="1371600" cy="365760"/>
          </a:xfrm>
          <a:prstGeom prst="rect">
            <a:avLst/>
          </a:prstGeom>
          <a:solidFill>
            <a:srgbClr val="E4F5F0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40880" y="25511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A5F"/>
                </a:solidFill>
              </a:rPr>
              <a:t>✓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2935224"/>
            <a:ext cx="2286000" cy="36576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29352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BI preditivo c/ IA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88920" y="2935224"/>
            <a:ext cx="1371600" cy="36576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88920" y="29352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4B4A"/>
                </a:solidFill>
              </a:rPr>
              <a:t>✗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206240" y="2935224"/>
            <a:ext cx="1371600" cy="36576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06240" y="29352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4B4A"/>
                </a:solidFill>
              </a:rPr>
              <a:t>✗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623560" y="2935224"/>
            <a:ext cx="1371600" cy="36576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23560" y="29352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4B4A"/>
                </a:solidFill>
              </a:rPr>
              <a:t>✗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040880" y="2935224"/>
            <a:ext cx="1371600" cy="365760"/>
          </a:xfrm>
          <a:prstGeom prst="rect">
            <a:avLst/>
          </a:prstGeom>
          <a:solidFill>
            <a:srgbClr val="E4F5F0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40880" y="29352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A5F"/>
                </a:solidFill>
              </a:rPr>
              <a:t>✓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57200" y="3319272"/>
            <a:ext cx="22860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33192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Score de churn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788920" y="3319272"/>
            <a:ext cx="13716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88920" y="33192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4B4A"/>
                </a:solidFill>
              </a:rPr>
              <a:t>✗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206240" y="3319272"/>
            <a:ext cx="13716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206240" y="33192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4B4A"/>
                </a:solidFill>
              </a:rPr>
              <a:t>✗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623560" y="3319272"/>
            <a:ext cx="13716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23560" y="33192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4B4A"/>
                </a:solidFill>
              </a:rPr>
              <a:t>✗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040880" y="3319272"/>
            <a:ext cx="1371600" cy="365760"/>
          </a:xfrm>
          <a:prstGeom prst="rect">
            <a:avLst/>
          </a:prstGeom>
          <a:solidFill>
            <a:srgbClr val="E4F5F0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40880" y="33192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A5F"/>
                </a:solidFill>
              </a:rPr>
              <a:t>✓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57200" y="3703320"/>
            <a:ext cx="2286000" cy="36576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App do paciente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788920" y="3703320"/>
            <a:ext cx="1371600" cy="36576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788920" y="3703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4B4A"/>
                </a:solidFill>
              </a:rPr>
              <a:t>✗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206240" y="3703320"/>
            <a:ext cx="1371600" cy="36576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206240" y="3703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Parcial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5623560" y="3703320"/>
            <a:ext cx="1371600" cy="36576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623560" y="3703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4B4A"/>
                </a:solidFill>
              </a:rPr>
              <a:t>✗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7040880" y="3703320"/>
            <a:ext cx="1371600" cy="365760"/>
          </a:xfrm>
          <a:prstGeom prst="rect">
            <a:avLst/>
          </a:prstGeom>
          <a:solidFill>
            <a:srgbClr val="E4F5F0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040880" y="3703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A5F"/>
                </a:solidFill>
              </a:rPr>
              <a:t>✓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457200" y="4087368"/>
            <a:ext cx="22860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57200" y="40873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Multi-especialidade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2788920" y="4087368"/>
            <a:ext cx="13716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788920" y="40873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A5F"/>
                </a:solidFill>
              </a:rPr>
              <a:t>✓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4206240" y="4087368"/>
            <a:ext cx="13716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206240" y="40873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A5F"/>
                </a:solidFill>
              </a:rPr>
              <a:t>✓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5623560" y="4087368"/>
            <a:ext cx="13716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623560" y="40873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Parcial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7040880" y="4087368"/>
            <a:ext cx="1371600" cy="365760"/>
          </a:xfrm>
          <a:prstGeom prst="rect">
            <a:avLst/>
          </a:prstGeom>
          <a:solidFill>
            <a:srgbClr val="E4F5F0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040880" y="40873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A5F"/>
                </a:solidFill>
              </a:rPr>
              <a:t>✓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457200" y="4471416"/>
            <a:ext cx="2286000" cy="36576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57200" y="44714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Preço/mês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2788920" y="4471416"/>
            <a:ext cx="1371600" cy="36576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788920" y="44714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R$249+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4206240" y="4471416"/>
            <a:ext cx="1371600" cy="36576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206240" y="44714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R$299+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5623560" y="4471416"/>
            <a:ext cx="1371600" cy="36576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623560" y="44714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R$349+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7040880" y="4471416"/>
            <a:ext cx="1371600" cy="365760"/>
          </a:xfrm>
          <a:prstGeom prst="rect">
            <a:avLst/>
          </a:prstGeom>
          <a:solidFill>
            <a:srgbClr val="E4F5F0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040880" y="44714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R$197+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TIME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Fundadores experientes em saúde e tech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1A27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1664208"/>
            <a:ext cx="914400" cy="914400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B9E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66420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CEO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Fundador CEO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9E7A"/>
                </a:solidFill>
              </a:rPr>
              <a:t>Negócios &amp; Produto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340156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10 anos em gestão de saúde digital. Ex-gestor de rede de clínicas.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83280" y="146304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1A27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1664208"/>
            <a:ext cx="914400" cy="914400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B9E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166420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CTO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83280" y="2743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Co-fundador CTO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3063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9E7A"/>
                </a:solidFill>
              </a:rPr>
              <a:t>Tecnologia &amp; Arquitetura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20440" y="340156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8 anos em SaaS B2B. Liderou times técnicos em healthtech.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09360" y="146304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1A27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78040" y="1664208"/>
            <a:ext cx="914400" cy="914400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B9E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166420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09360" y="2743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Head Customer Success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3063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9E7A"/>
                </a:solidFill>
              </a:rPr>
              <a:t>Clientes &amp; Operações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46520" y="340156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 anos em implementação de sistemas de saúde.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+ Advisors: especialistas em saúde digital, direito médico e growth B2B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CAPTAÇÃO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Rodada Seed — R$1,2M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3840480" cy="1005840"/>
          </a:xfrm>
          <a:prstGeom prst="roundRect">
            <a:avLst>
              <a:gd name="adj" fmla="val 9091"/>
            </a:avLst>
          </a:prstGeom>
          <a:solidFill>
            <a:srgbClr val="1A27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08760"/>
            <a:ext cx="54864" cy="100584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0020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7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20391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Produto &amp; Engenharia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17520" y="16002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R$480k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508760"/>
            <a:ext cx="3840480" cy="1005840"/>
          </a:xfrm>
          <a:prstGeom prst="roundRect">
            <a:avLst>
              <a:gd name="adj" fmla="val 9091"/>
            </a:avLst>
          </a:prstGeom>
          <a:solidFill>
            <a:srgbClr val="1A27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508760"/>
            <a:ext cx="54864" cy="1005840"/>
          </a:xfrm>
          <a:prstGeom prst="rect">
            <a:avLst/>
          </a:prstGeom>
          <a:solidFill>
            <a:srgbClr val="0B9E7A"/>
          </a:solidFill>
          <a:ln w="12700">
            <a:solidFill>
              <a:srgbClr val="0B9E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60020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9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92040" y="20391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Vendas &amp; Marketing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223760" y="16002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R$360k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3840480" cy="1005840"/>
          </a:xfrm>
          <a:prstGeom prst="roundRect">
            <a:avLst>
              <a:gd name="adj" fmla="val 9091"/>
            </a:avLst>
          </a:prstGeom>
          <a:solidFill>
            <a:srgbClr val="1A27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697480"/>
            <a:ext cx="54864" cy="1005840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7889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DCA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5800" y="32278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Operações &amp; CS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017520" y="27889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R$240k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2697480"/>
            <a:ext cx="3840480" cy="1005840"/>
          </a:xfrm>
          <a:prstGeom prst="roundRect">
            <a:avLst>
              <a:gd name="adj" fmla="val 9091"/>
            </a:avLst>
          </a:prstGeom>
          <a:solidFill>
            <a:srgbClr val="1A27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2697480"/>
            <a:ext cx="54864" cy="1005840"/>
          </a:xfrm>
          <a:prstGeom prst="rect">
            <a:avLst/>
          </a:prstGeom>
          <a:solidFill>
            <a:srgbClr val="9FE1CB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7889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FE1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92040" y="32278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Jurídico &amp; Compliance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223760" y="27889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R$120k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4041648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0D7A5F"/>
          </a:solidFill>
          <a:ln w="12700">
            <a:solidFill>
              <a:srgbClr val="0B9E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09651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Meta pós-captação: R$120k MRR em 12 meses · 200+ clínicas pagantes · Plataforma completa com IA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44398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DE4"/>
                </a:solidFill>
              </a:rPr>
              <a:t>Break-even operacional no mês 14 · LTV/CAC = 38x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Clinora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A plataforma que cuida da sua clínica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2560320"/>
            <a:ext cx="2743200" cy="0"/>
          </a:xfrm>
          <a:prstGeom prst="line">
            <a:avLst/>
          </a:prstGeom>
          <a:noFill/>
          <a:ln w="12700">
            <a:solidFill>
              <a:srgbClr val="0D7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9E7A"/>
                </a:solidFill>
              </a:rPr>
              <a:t>contato@clinora.com.br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www.clinora.com.br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Obrigado!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Clinora — Pitch Deck</dc:title>
  <dc:subject>PptxGenJS Presentation</dc:subject>
  <dc:creator>PptxGenJS</dc:creator>
  <cp:lastModifiedBy>PptxGenJS</cp:lastModifiedBy>
  <cp:revision>1</cp:revision>
  <dcterms:created xsi:type="dcterms:W3CDTF">2026-05-14T08:50:04Z</dcterms:created>
  <dcterms:modified xsi:type="dcterms:W3CDTF">2026-05-14T08:50:04Z</dcterms:modified>
</cp:coreProperties>
</file>